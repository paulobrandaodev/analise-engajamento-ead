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8229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logotipo-ufabc-lat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2514600" cy="1943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331720"/>
            <a:ext cx="8138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06633"/>
                </a:solidFill>
                <a:latin typeface="Arial"/>
              </a:rPr>
              <a:t>Classificação de Engajamento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06633"/>
                </a:solidFill>
                <a:latin typeface="Arial"/>
              </a:rPr>
              <a:t>em EaD com Visão Computacional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005072"/>
            <a:ext cx="2011680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4224528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B6660"/>
                </a:solidFill>
                <a:latin typeface="Arial"/>
              </a:rPr>
              <a:t>Prova de conceito no DAiSEE: marcos faciais leves, sem transmitir imagem do rosto, sob protocolo multimétrica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138928"/>
            <a:ext cx="8138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4261C"/>
                </a:solidFill>
                <a:latin typeface="Arial"/>
              </a:rPr>
              <a:t>Priscila Henrique Medeiro dos Santos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6660"/>
                </a:solidFill>
                <a:latin typeface="Arial"/>
              </a:rPr>
              <a:t>INF-009 – Projeto e Comunicação de Pesquisa em Engenharia da Informação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660"/>
                </a:solidFill>
                <a:latin typeface="Arial"/>
              </a:rPr>
              <a:t>Pós-graduação em Engenharia da Informação · UFABC · Santo André, agosto de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633"/>
                </a:solidFill>
                <a:latin typeface="Arial"/>
              </a:rPr>
              <a:t>O problema: desengajamento invisível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371600" cy="5029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984248" y="889711"/>
            <a:ext cx="6656832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3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60"/>
                </a:solidFill>
                <a:latin typeface="Arial"/>
              </a:rPr>
              <a:t>Por que a métrica dominante na literatura esconde justamente quem precisa de atenção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43507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3520440" cy="8298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61C"/>
                </a:solidFill>
                <a:latin typeface="Arial"/>
              </a:rPr>
              <a:t>Em aula síncrona, o docente </a:t>
            </a:r>
            <a:r>
              <a:rPr sz="1800" b="1">
                <a:solidFill>
                  <a:srgbClr val="14261C"/>
                </a:solidFill>
                <a:latin typeface="Arial"/>
              </a:rPr>
              <a:t>não observa dezenas de participantes ao mesmo tempo</a:t>
            </a:r>
            <a:r>
              <a:rPr sz="1800" b="0">
                <a:solidFill>
                  <a:srgbClr val="14261C"/>
                </a:solidFill>
                <a:latin typeface="Arial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92781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494026"/>
            <a:ext cx="3520440" cy="8298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61C"/>
                </a:solidFill>
                <a:latin typeface="Arial"/>
              </a:rPr>
              <a:t>A queda de atenção é percebida tarde — e alimenta a </a:t>
            </a:r>
            <a:r>
              <a:rPr sz="1800" b="1">
                <a:solidFill>
                  <a:srgbClr val="14261C"/>
                </a:solidFill>
                <a:latin typeface="Arial"/>
              </a:rPr>
              <a:t>evasão em EaD</a:t>
            </a:r>
            <a:r>
              <a:rPr sz="1800" b="0">
                <a:solidFill>
                  <a:srgbClr val="14261C"/>
                </a:solidFill>
                <a:latin typeface="Arial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42055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3543300"/>
            <a:ext cx="35204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61C"/>
                </a:solidFill>
                <a:latin typeface="Arial"/>
              </a:rPr>
              <a:t>No DAiSEE, </a:t>
            </a:r>
            <a:r>
              <a:rPr sz="1800" b="1">
                <a:solidFill>
                  <a:srgbClr val="14261C"/>
                </a:solidFill>
                <a:latin typeface="Arial"/>
              </a:rPr>
              <a:t>94% dos clipes são “engajado”</a:t>
            </a:r>
            <a:r>
              <a:rPr sz="1800" b="0">
                <a:solidFill>
                  <a:srgbClr val="14261C"/>
                </a:solidFill>
                <a:latin typeface="Arial"/>
              </a:rPr>
              <a:t>: responder sempre “engajado” já acerta 51,8% de acurácia.</a:t>
            </a:r>
          </a:p>
        </p:txBody>
      </p:sp>
      <p:pic>
        <p:nvPicPr>
          <p:cNvPr id="12" name="Picture 11" descr="fig_distribu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389888"/>
            <a:ext cx="4315968" cy="290588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2920" y="4773168"/>
            <a:ext cx="8138160" cy="1495234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664" y="4956048"/>
            <a:ext cx="7662672" cy="1129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4261C"/>
                </a:solidFill>
                <a:latin typeface="Arial"/>
              </a:rPr>
              <a:t>Hipótese.  </a:t>
            </a:r>
            <a:r>
              <a:rPr sz="1750" b="0">
                <a:solidFill>
                  <a:srgbClr val="14261C"/>
                </a:solidFill>
                <a:latin typeface="Arial"/>
              </a:rPr>
              <a:t>Indicadores visuais analisados continuamente — abertura ocular, direção do olhar, pose da cabeça — identificam níveis de engajamento com mais objetividade que o acompanhamento humano não instrumentado.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8138160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60"/>
                </a:solidFill>
                <a:latin typeface="Arial"/>
              </a:rPr>
              <a:t>Classificação de Engajamento em EaD com Visão Computacional · INF-009 · UFABC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63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633"/>
                </a:solidFill>
                <a:latin typeface="Arial"/>
              </a:rPr>
              <a:t>Objetivos mensuráveis, definidos a priori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371600" cy="5029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984248" y="889711"/>
            <a:ext cx="6656832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3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60"/>
                </a:solidFill>
                <a:latin typeface="Arial"/>
              </a:rPr>
              <a:t>Cada objetivo traz o critério numérico que o declara atingido — ou não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08176"/>
            <a:ext cx="8138160" cy="1530603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408176"/>
            <a:ext cx="64008" cy="1530603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664" y="1527048"/>
            <a:ext cx="7662672" cy="1292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06633"/>
                </a:solidFill>
                <a:latin typeface="Arial"/>
              </a:rPr>
              <a:t>Objetivo geral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14261C"/>
                </a:solidFill>
                <a:latin typeface="Arial"/>
              </a:rPr>
              <a:t>Avaliar se indicadores visuais permitem identificar níveis de engajamento em aulas síncronas de EaD.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61C"/>
                </a:solidFill>
                <a:latin typeface="Arial"/>
              </a:rPr>
              <a:t>Critério: </a:t>
            </a:r>
            <a:r>
              <a:rPr sz="1550" b="0">
                <a:solidFill>
                  <a:srgbClr val="14261C"/>
                </a:solidFill>
                <a:latin typeface="Arial"/>
              </a:rPr>
              <a:t>superar o baseline de classe majoritária em macro-F1 e kappa, com IC 95% (bootstrap, 1.000 reamostragens) não sobrepostos.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57652"/>
            <a:ext cx="8138160" cy="1530603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02920" y="3057652"/>
            <a:ext cx="64008" cy="1530603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664" y="3176524"/>
            <a:ext cx="7662672" cy="1292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06633"/>
                </a:solidFill>
                <a:latin typeface="Arial"/>
              </a:rPr>
              <a:t>Objetivo específico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14261C"/>
                </a:solidFill>
                <a:latin typeface="Arial"/>
              </a:rPr>
              <a:t>Identificar os indicadores visuais mais relacionados ao engajamento, ao desengajamento e à distração.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61C"/>
                </a:solidFill>
                <a:latin typeface="Arial"/>
              </a:rPr>
              <a:t>Critério: </a:t>
            </a:r>
            <a:r>
              <a:rPr sz="1550" b="0">
                <a:solidFill>
                  <a:srgbClr val="14261C"/>
                </a:solidFill>
                <a:latin typeface="Arial"/>
              </a:rPr>
              <a:t>ranking de importância com top-5 estável em ≥ 4 de 5 folds de validação cruzada.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07128"/>
            <a:ext cx="8138160" cy="1530603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02920" y="4707128"/>
            <a:ext cx="64008" cy="1530603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664" y="4826000"/>
            <a:ext cx="7662672" cy="1292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06633"/>
                </a:solidFill>
                <a:latin typeface="Arial"/>
              </a:rPr>
              <a:t>Objetivo específico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14261C"/>
                </a:solidFill>
                <a:latin typeface="Arial"/>
              </a:rPr>
              <a:t>Diferenciar engajados (níveis 2–3) de desengajados (níveis 0–1) em vídeo real.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61C"/>
                </a:solidFill>
                <a:latin typeface="Arial"/>
              </a:rPr>
              <a:t>Critério: </a:t>
            </a:r>
            <a:r>
              <a:rPr sz="1550" b="0">
                <a:solidFill>
                  <a:srgbClr val="14261C"/>
                </a:solidFill>
                <a:latin typeface="Arial"/>
              </a:rPr>
              <a:t>revocação da classe Desengajado ≥ 60% e AUC-ROC ≥ 0,70, contra revocação próxima de zero do baseline trivial.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8138160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60"/>
                </a:solidFill>
                <a:latin typeface="Arial"/>
              </a:rPr>
              <a:t>Classificação de Engajamento em EaD com Visão Computacional · INF-009 · UFABC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63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633"/>
                </a:solidFill>
                <a:latin typeface="Arial"/>
              </a:rPr>
              <a:t>Estado da arte 2016 →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371600" cy="5029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984248" y="889711"/>
            <a:ext cx="6656832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3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60"/>
                </a:solidFill>
                <a:latin typeface="Arial"/>
              </a:rPr>
              <a:t>Muito modelo, pouca métrica: onde a literatura do DAiSEE ainda não olha</a:t>
            </a:r>
          </a:p>
        </p:txBody>
      </p:sp>
      <p:pic>
        <p:nvPicPr>
          <p:cNvPr id="6" name="Picture 5" descr="fig_s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99616"/>
            <a:ext cx="4434840" cy="32662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47488" y="1408176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6633"/>
                </a:solidFill>
                <a:latin typeface="Arial"/>
              </a:rPr>
              <a:t>As lacunas que atacamos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7488" y="1877263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21807" y="1792224"/>
            <a:ext cx="3337560" cy="714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61C"/>
                </a:solidFill>
                <a:latin typeface="Arial"/>
              </a:rPr>
              <a:t>11 de 11</a:t>
            </a:r>
            <a:r>
              <a:rPr sz="1550" b="0">
                <a:solidFill>
                  <a:srgbClr val="14261C"/>
                </a:solidFill>
                <a:latin typeface="Arial"/>
              </a:rPr>
              <a:t> trabalhos reportam acurácia; </a:t>
            </a:r>
            <a:r>
              <a:rPr sz="1550" b="1">
                <a:solidFill>
                  <a:srgbClr val="14261C"/>
                </a:solidFill>
                <a:latin typeface="Arial"/>
              </a:rPr>
              <a:t>nenhum</a:t>
            </a:r>
            <a:r>
              <a:rPr sz="1550" b="0">
                <a:solidFill>
                  <a:srgbClr val="14261C"/>
                </a:solidFill>
                <a:latin typeface="Arial"/>
              </a:rPr>
              <a:t> reporta kappa ou 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7488" y="2692412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21807" y="2607373"/>
            <a:ext cx="3337560" cy="476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4261C"/>
                </a:solidFill>
                <a:latin typeface="Arial"/>
              </a:rPr>
              <a:t>Desbalanceamento extremo tratado implicitamente.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7488" y="3269373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21807" y="3184334"/>
            <a:ext cx="3337560" cy="476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4261C"/>
                </a:solidFill>
                <a:latin typeface="Arial"/>
              </a:rPr>
              <a:t>Ordinalidade do rótulo (0→3) pouco explorada.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7488" y="3846334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21807" y="3761295"/>
            <a:ext cx="3337560" cy="714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4261C"/>
                </a:solidFill>
                <a:latin typeface="Arial"/>
              </a:rPr>
              <a:t>SOTA (73,4%) exige treino pesado, fora do alcance de uma PoC.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7488" y="4661484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21807" y="4576445"/>
            <a:ext cx="3337560" cy="476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4261C"/>
                </a:solidFill>
                <a:latin typeface="Arial"/>
              </a:rPr>
              <a:t>Zero-shot com VLMs falha: </a:t>
            </a:r>
            <a:r>
              <a:rPr sz="1550" b="1">
                <a:solidFill>
                  <a:srgbClr val="14261C"/>
                </a:solidFill>
                <a:latin typeface="Arial"/>
              </a:rPr>
              <a:t>kappa &lt; 0,10</a:t>
            </a:r>
            <a:r>
              <a:rPr sz="1550" b="0">
                <a:solidFill>
                  <a:srgbClr val="14261C"/>
                </a:solidFill>
                <a:latin typeface="Arial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93792"/>
            <a:ext cx="8321040" cy="1127883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3504" y="5358383"/>
            <a:ext cx="7845552" cy="798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Arial"/>
              </a:rPr>
              <a:t>Nossa aposta.  </a:t>
            </a:r>
            <a:r>
              <a:rPr sz="1650" b="0">
                <a:solidFill>
                  <a:srgbClr val="FFFFFF"/>
                </a:solidFill>
                <a:latin typeface="Arial"/>
              </a:rPr>
              <a:t>Não superar o número absoluto do SOTA, e sim medir honestamente o que atributos faciais leves entregam — sob um protocolo que torne visível o efeito do desbalanceamento.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55080"/>
            <a:ext cx="8138160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60"/>
                </a:solidFill>
                <a:latin typeface="Arial"/>
              </a:rPr>
              <a:t>Classificação de Engajamento em EaD com Visão Computacional · INF-009 · UFABC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63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633"/>
                </a:solidFill>
                <a:latin typeface="Arial"/>
              </a:rPr>
              <a:t>Metodologia: pipeline leve, sem imagem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371600" cy="5029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984248" y="889711"/>
            <a:ext cx="6656832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84048" y="1280160"/>
            <a:ext cx="2606040" cy="105156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4048" y="1280160"/>
            <a:ext cx="2606040" cy="54864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2064" y="1463040"/>
            <a:ext cx="2350008" cy="813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6633"/>
                </a:solidFill>
                <a:latin typeface="Arial"/>
              </a:rPr>
              <a:t>Vídeos DAiSEE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60"/>
                </a:solidFill>
                <a:latin typeface="Arial"/>
              </a:rPr>
              <a:t>clipes de 10 s
640×480 · 30 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088" y="159105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CC00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280160"/>
            <a:ext cx="2606040" cy="105156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264408" y="1280160"/>
            <a:ext cx="2606040" cy="54864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92424" y="1463040"/>
            <a:ext cx="2350008" cy="813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6633"/>
                </a:solidFill>
                <a:latin typeface="Arial"/>
              </a:rPr>
              <a:t>20 quadros/clipe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60"/>
                </a:solidFill>
                <a:latin typeface="Arial"/>
              </a:rPr>
              <a:t>amostragem uniforme
(não todos os quadros)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159105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CC00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280160"/>
            <a:ext cx="2606040" cy="105156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44768" y="1280160"/>
            <a:ext cx="2606040" cy="54864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72783" y="1463040"/>
            <a:ext cx="2350008" cy="813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6633"/>
                </a:solidFill>
                <a:latin typeface="Arial"/>
              </a:rPr>
              <a:t>MediaPipe FaceMesh + Íris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60"/>
                </a:solidFill>
                <a:latin typeface="Arial"/>
              </a:rPr>
              <a:t>EAR · MAR · pose
(yaw, pitch, roll) · gaze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587752"/>
            <a:ext cx="4050791" cy="1546415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734056"/>
            <a:ext cx="3685031" cy="1272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>
                <a:solidFill>
                  <a:srgbClr val="006633"/>
                </a:solidFill>
                <a:latin typeface="Arial"/>
              </a:rPr>
              <a:t>Trilha A · ML clássico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4261C"/>
                </a:solidFill>
                <a:latin typeface="Arial"/>
              </a:rPr>
              <a:t>33 atributos agregados por clipe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4261C"/>
                </a:solidFill>
                <a:latin typeface="Arial"/>
              </a:rPr>
              <a:t>Random Forest · XGBoost · SVM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4261C"/>
                </a:solidFill>
                <a:latin typeface="Arial"/>
              </a:rPr>
              <a:t>GridSearchCV + 4 tratamentos de desbalanceamento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59" y="2587752"/>
            <a:ext cx="4050791" cy="1546415"/>
          </a:xfrm>
          <a:prstGeom prst="rect">
            <a:avLst/>
          </a:prstGeom>
          <a:solidFill>
            <a:srgbClr val="FFFFFF"/>
          </a:solidFill>
          <a:ln w="22225">
            <a:solidFill>
              <a:srgbClr val="A6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2040" y="2734056"/>
            <a:ext cx="3685031" cy="1272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>
                <a:solidFill>
                  <a:srgbClr val="A67C00"/>
                </a:solidFill>
                <a:latin typeface="Arial"/>
              </a:rPr>
              <a:t>Trilha B · temporal raso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4261C"/>
                </a:solidFill>
                <a:latin typeface="Arial"/>
              </a:rPr>
              <a:t>Sequência de 20 passos por clipe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4261C"/>
                </a:solidFill>
                <a:latin typeface="Arial"/>
              </a:rPr>
              <a:t>BiLSTM com perda focal ponderada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4261C"/>
                </a:solidFill>
                <a:latin typeface="Arial"/>
              </a:rPr>
              <a:t>Variante ordinal CORAL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353623"/>
            <a:ext cx="8375904" cy="548640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84048" y="4353623"/>
            <a:ext cx="83759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Avaliação: acurácia · macro-F1 · kappa · revocação por classe · IC 95% (bootstrap)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5140007"/>
            <a:ext cx="2093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633"/>
                </a:solidFill>
                <a:latin typeface="Arial"/>
              </a:rPr>
              <a:t>7.918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524055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660"/>
                </a:solidFill>
                <a:latin typeface="Arial"/>
              </a:rPr>
              <a:t>clipes processados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78024" y="5140007"/>
            <a:ext cx="2093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633"/>
                </a:solidFill>
                <a:latin typeface="Arial"/>
              </a:rPr>
              <a:t>69 / 19 / 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8024" y="5524055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660"/>
                </a:solidFill>
                <a:latin typeface="Arial"/>
              </a:rPr>
              <a:t>sujeitos disjuntos
treino / val. / teste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140007"/>
            <a:ext cx="2093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633"/>
                </a:solidFill>
                <a:latin typeface="Arial"/>
              </a:rPr>
              <a:t>99,99%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524055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660"/>
                </a:solidFill>
                <a:latin typeface="Arial"/>
              </a:rPr>
              <a:t>detecção facial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5976" y="5140007"/>
            <a:ext cx="2093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633"/>
                </a:solidFill>
                <a:latin typeface="Arial"/>
              </a:rPr>
              <a:t>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5976" y="5524055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660"/>
                </a:solidFill>
                <a:latin typeface="Arial"/>
              </a:rPr>
              <a:t>semente fixa
(reprodutibilidade)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55080"/>
            <a:ext cx="8138160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60"/>
                </a:solidFill>
                <a:latin typeface="Arial"/>
              </a:rPr>
              <a:t>Classificação de Engajamento em EaD com Visão Computacional · INF-009 · UFABC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63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633"/>
                </a:solidFill>
                <a:latin typeface="Arial"/>
              </a:rPr>
              <a:t>Resultados: o sinal existe e é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371600" cy="5029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984248" y="889711"/>
            <a:ext cx="6656832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3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60"/>
                </a:solidFill>
                <a:latin typeface="Arial"/>
              </a:rPr>
              <a:t>Oito modelos no mesmo protocolo, comparados ao baseline de classe majoritária</a:t>
            </a:r>
          </a:p>
        </p:txBody>
      </p:sp>
      <p:pic>
        <p:nvPicPr>
          <p:cNvPr id="6" name="Picture 5" descr="fig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4663440" cy="2353418"/>
          </a:xfrm>
          <a:prstGeom prst="rect">
            <a:avLst/>
          </a:prstGeom>
        </p:spPr>
      </p:pic>
      <p:pic>
        <p:nvPicPr>
          <p:cNvPr id="7" name="Picture 6" descr="fig_boots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444752"/>
            <a:ext cx="3310128" cy="30146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846320"/>
            <a:ext cx="8321040" cy="1260729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3504" y="4992624"/>
            <a:ext cx="7845552" cy="96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61C"/>
                </a:solidFill>
                <a:latin typeface="Arial"/>
              </a:rPr>
              <a:t>Random Forest com class_weight balanceado: macro-F1 </a:t>
            </a:r>
            <a:r>
              <a:rPr sz="1500" b="1">
                <a:solidFill>
                  <a:srgbClr val="14261C"/>
                </a:solidFill>
                <a:latin typeface="Arial"/>
              </a:rPr>
              <a:t>0,382</a:t>
            </a:r>
            <a:r>
              <a:rPr sz="1500" b="1">
                <a:solidFill>
                  <a:srgbClr val="14261C"/>
                </a:solidFill>
                <a:latin typeface="Arial"/>
              </a:rPr>
              <a:t> e kappa </a:t>
            </a:r>
            <a:r>
              <a:rPr sz="1500" b="1">
                <a:solidFill>
                  <a:srgbClr val="14261C"/>
                </a:solidFill>
                <a:latin typeface="Arial"/>
              </a:rPr>
              <a:t>0,111</a:t>
            </a:r>
            <a:r>
              <a:rPr sz="1500" b="0">
                <a:solidFill>
                  <a:srgbClr val="14261C"/>
                </a:solidFill>
                <a:latin typeface="Arial"/>
              </a:rPr>
              <a:t>, contra 0,171 e 0,000 do baseline. </a:t>
            </a:r>
            <a:r>
              <a:rPr sz="1500" b="0">
                <a:solidFill>
                  <a:srgbClr val="14261C"/>
                </a:solidFill>
                <a:latin typeface="Arial"/>
              </a:rPr>
              <a:t>Os IC 95% não se sobrepõem — o ganho é significativo. Na Trilha B, a formulação ordinal CORAL superou a perda focal (0,266 contra 0,121).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55080"/>
            <a:ext cx="8138160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60"/>
                </a:solidFill>
                <a:latin typeface="Arial"/>
              </a:rPr>
              <a:t>Classificação de Engajamento em EaD com Visão Computacional · INF-009 · UFABC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63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633"/>
                </a:solidFill>
                <a:latin typeface="Arial"/>
              </a:rPr>
              <a:t>Objetivos 1 e 2: o que o rosto entrega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371600" cy="5029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984248" y="889711"/>
            <a:ext cx="6656832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3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60"/>
                </a:solidFill>
                <a:latin typeface="Arial"/>
              </a:rPr>
              <a:t>Quais indicadores importam — e até onde eles separam engajado de desengajado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38988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06633"/>
                </a:solidFill>
                <a:latin typeface="Arial"/>
              </a:rPr>
              <a:t>OE1 ✓  atingido</a:t>
            </a:r>
          </a:p>
        </p:txBody>
      </p:sp>
      <p:pic>
        <p:nvPicPr>
          <p:cNvPr id="7" name="Picture 6" descr="fig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719072"/>
            <a:ext cx="4617720" cy="2405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0368" y="138988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A67C00"/>
                </a:solidFill>
                <a:latin typeface="Arial"/>
              </a:rPr>
              <a:t>OE2 ✗  parcialmente atingido</a:t>
            </a:r>
          </a:p>
        </p:txBody>
      </p:sp>
      <p:pic>
        <p:nvPicPr>
          <p:cNvPr id="9" name="Picture 8" descr="fig_confusao_bina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773936"/>
            <a:ext cx="3017520" cy="3017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4048" y="4773168"/>
            <a:ext cx="4206240" cy="1491267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" y="4919472"/>
            <a:ext cx="3730752" cy="11986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06633"/>
                </a:solidFill>
                <a:latin typeface="Arial"/>
              </a:rPr>
              <a:t>4 atributos no top-5 em ≥ 4 de 5 folds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261C"/>
                </a:solidFill>
                <a:latin typeface="Arial"/>
              </a:rPr>
              <a:t>Abertura ocular (EAR) e variação do olhar dominam — sinais de sonolência e de dispersão do foco.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4773168"/>
            <a:ext cx="3931920" cy="1491267"/>
          </a:xfrm>
          <a:prstGeom prst="rect">
            <a:avLst/>
          </a:prstGeom>
          <a:solidFill>
            <a:srgbClr val="FFFFFF"/>
          </a:solidFill>
          <a:ln w="222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992624" y="4919472"/>
            <a:ext cx="3456432" cy="11986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06633"/>
                </a:solidFill>
                <a:latin typeface="Arial"/>
              </a:rPr>
              <a:t>AUC-ROC 0,731 ✓</a:t>
            </a:r>
            <a:r>
              <a:rPr sz="1550" b="0">
                <a:solidFill>
                  <a:srgbClr val="006633"/>
                </a:solidFill>
                <a:latin typeface="Arial"/>
              </a:rPr>
              <a:t>  (meta ≥ 0,70)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A67C00"/>
                </a:solidFill>
                <a:latin typeface="Arial"/>
              </a:rPr>
              <a:t>Revocação Desengajado 25,9% ✗</a:t>
            </a:r>
            <a:r>
              <a:rPr sz="1550" b="0">
                <a:solidFill>
                  <a:srgbClr val="A67C00"/>
                </a:solidFill>
                <a:latin typeface="Arial"/>
              </a:rPr>
              <a:t>  (meta ≥ 60%)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261C"/>
                </a:solidFill>
                <a:latin typeface="Arial"/>
              </a:rPr>
              <a:t>O limiar padrão ainda perde 3 de cada 4 alunos desengajados.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55080"/>
            <a:ext cx="8138160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60"/>
                </a:solidFill>
                <a:latin typeface="Arial"/>
              </a:rPr>
              <a:t>Classificação de Engajamento em EaD com Visão Computacional · INF-009 · UFABC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63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633"/>
                </a:solidFill>
                <a:latin typeface="Arial"/>
              </a:rPr>
              <a:t>Hipótese parcialmente corroborada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371600" cy="5029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984248" y="889711"/>
            <a:ext cx="6656832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84048" y="1243584"/>
            <a:ext cx="8321040" cy="859536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7845552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Arial"/>
              </a:rPr>
              <a:t>Veredito.  </a:t>
            </a:r>
            <a:r>
              <a:rPr sz="1650" b="0">
                <a:solidFill>
                  <a:srgbClr val="FFFFFF"/>
                </a:solidFill>
                <a:latin typeface="Arial"/>
              </a:rPr>
              <a:t>Há ganho estatisticamente significativo sobre o baseline em macro-F1 e kappa, mas a revocação da classe Desengajado ficou muito abaixo da meta.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2860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06633"/>
                </a:solidFill>
                <a:latin typeface="Arial"/>
              </a:rPr>
              <a:t>O que aprendemos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2734056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3794760" cy="461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61C"/>
                </a:solidFill>
                <a:latin typeface="Arial"/>
              </a:rPr>
              <a:t>Marcos faciais leves </a:t>
            </a:r>
            <a:r>
              <a:rPr sz="1500" b="1">
                <a:solidFill>
                  <a:srgbClr val="14261C"/>
                </a:solidFill>
                <a:latin typeface="Arial"/>
              </a:rPr>
              <a:t>carregam sinal real</a:t>
            </a:r>
            <a:r>
              <a:rPr sz="1500" b="0">
                <a:solidFill>
                  <a:srgbClr val="14261C"/>
                </a:solidFill>
                <a:latin typeface="Arial"/>
              </a:rPr>
              <a:t> de engajamento.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313938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3231642"/>
            <a:ext cx="3794760" cy="6915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61C"/>
                </a:solidFill>
                <a:latin typeface="Arial"/>
              </a:rPr>
              <a:t>kappa 0,110</a:t>
            </a:r>
            <a:r>
              <a:rPr sz="1500" b="0">
                <a:solidFill>
                  <a:srgbClr val="14261C"/>
                </a:solidFill>
                <a:latin typeface="Arial"/>
              </a:rPr>
              <a:t>: concordância pouco acima do acaso — insuficiente para uso pedagógico direto.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124324"/>
            <a:ext cx="118872" cy="118872"/>
          </a:xfrm>
          <a:prstGeom prst="rect">
            <a:avLst/>
          </a:prstGeom>
          <a:solidFill>
            <a:srgbClr val="00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4042028"/>
            <a:ext cx="3794760" cy="6915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61C"/>
                </a:solidFill>
                <a:latin typeface="Arial"/>
              </a:rPr>
              <a:t>O gargalo é o desbalanceamento, não a arquitetura</a:t>
            </a:r>
            <a:r>
              <a:rPr sz="1500" b="0">
                <a:solidFill>
                  <a:srgbClr val="14261C"/>
                </a:solidFill>
                <a:latin typeface="Arial"/>
              </a:rPr>
              <a:t>: nenhuma mitigação recuperou as classes raras.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006633"/>
                </a:solidFill>
                <a:latin typeface="Arial"/>
              </a:rPr>
              <a:t>Próximos passos (mestrado)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734056"/>
            <a:ext cx="118872" cy="118872"/>
          </a:xfrm>
          <a:prstGeom prst="rect">
            <a:avLst/>
          </a:prstGeom>
          <a:solidFill>
            <a:srgbClr val="A6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29200" y="2651760"/>
            <a:ext cx="3657600" cy="461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61C"/>
                </a:solidFill>
                <a:latin typeface="Arial"/>
              </a:rPr>
              <a:t>Meses 1–3: </a:t>
            </a:r>
            <a:r>
              <a:rPr sz="1500" b="0">
                <a:solidFill>
                  <a:srgbClr val="14261C"/>
                </a:solidFill>
                <a:latin typeface="Arial"/>
              </a:rPr>
              <a:t>generalização entre bases (EngageNet).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313938"/>
            <a:ext cx="118872" cy="118872"/>
          </a:xfrm>
          <a:prstGeom prst="rect">
            <a:avLst/>
          </a:prstGeom>
          <a:solidFill>
            <a:srgbClr val="A6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0" y="3231642"/>
            <a:ext cx="3657600" cy="461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61C"/>
                </a:solidFill>
                <a:latin typeface="Arial"/>
              </a:rPr>
              <a:t>Meses 4–7: </a:t>
            </a:r>
            <a:r>
              <a:rPr sz="1500" b="0">
                <a:solidFill>
                  <a:srgbClr val="14261C"/>
                </a:solidFill>
                <a:latin typeface="Arial"/>
              </a:rPr>
              <a:t>contexto de cena + aprendizado contrastivo ordinal.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893819"/>
            <a:ext cx="118872" cy="118872"/>
          </a:xfrm>
          <a:prstGeom prst="rect">
            <a:avLst/>
          </a:prstGeom>
          <a:solidFill>
            <a:srgbClr val="A6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29200" y="3811523"/>
            <a:ext cx="3657600" cy="461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61C"/>
                </a:solidFill>
                <a:latin typeface="Arial"/>
              </a:rPr>
              <a:t>Meses 8–10: </a:t>
            </a:r>
            <a:r>
              <a:rPr sz="1500" b="0">
                <a:solidFill>
                  <a:srgbClr val="14261C"/>
                </a:solidFill>
                <a:latin typeface="Arial"/>
              </a:rPr>
              <a:t>ruído de rótulo por sujeito e calibração de incerteza.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4473701"/>
            <a:ext cx="118872" cy="118872"/>
          </a:xfrm>
          <a:prstGeom prst="rect">
            <a:avLst/>
          </a:prstGeom>
          <a:solidFill>
            <a:srgbClr val="A6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0" y="4391405"/>
            <a:ext cx="3657600" cy="461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61C"/>
                </a:solidFill>
                <a:latin typeface="Arial"/>
              </a:rPr>
              <a:t>Meses 11–18: </a:t>
            </a:r>
            <a:r>
              <a:rPr sz="1500" b="0">
                <a:solidFill>
                  <a:srgbClr val="14261C"/>
                </a:solidFill>
                <a:latin typeface="Arial"/>
              </a:rPr>
              <a:t>painel de feedback ao docente e defesa.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983480"/>
            <a:ext cx="8321040" cy="1174056"/>
          </a:xfrm>
          <a:prstGeom prst="rect">
            <a:avLst/>
          </a:prstGeom>
          <a:solidFill>
            <a:srgbClr val="FFFFFF"/>
          </a:solidFill>
          <a:ln w="222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792" y="5111496"/>
            <a:ext cx="7845552" cy="91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61C"/>
                </a:solidFill>
                <a:latin typeface="Arial"/>
              </a:rPr>
              <a:t>Limitações declaradas.  </a:t>
            </a:r>
            <a:r>
              <a:rPr sz="1450" b="0">
                <a:solidFill>
                  <a:srgbClr val="14261C"/>
                </a:solidFill>
                <a:latin typeface="Arial"/>
              </a:rPr>
              <a:t>O teste contém apenas 4 clipes da classe 0, o que amplia os intervalos de confiança; 20 quadros por clipe descartam microdinâmicas; marcos faciais ignoram cena e postura corporal; há indícios de ruído de rótulo por sujeito.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55080"/>
            <a:ext cx="8138160" cy="10058"/>
          </a:xfrm>
          <a:prstGeom prst="rect">
            <a:avLst/>
          </a:prstGeom>
          <a:solidFill>
            <a:srgbClr val="D7D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60"/>
                </a:solidFill>
                <a:latin typeface="Arial"/>
              </a:rPr>
              <a:t>Classificação de Engajamento em EaD com Visão Computacional · INF-009 · UFABC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63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